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blem" id="{B8E4A4CA-C170-8B3B-641E-87B71CF01F97}">
          <p14:sldIdLst/>
        </p14:section>
        <p14:section name="Solution" id="{03516081-6F38-3BF4-1AE9-D7FECB71C16C}">
          <p14:sldIdLst/>
        </p14:section>
        <p14:section name="Modules" id="{B6C9700A-3972-D381-4F5A-241D510B4049}">
          <p14:sldIdLst/>
        </p14:section>
        <p14:section name="Status" id="{BFC76298-7516-FEA8-14D4-63E6C621B4D7}">
          <p14:sldIdLst/>
        </p14:section>
        <p14:section name="Market" id="{0A2C05E5-67E2-120D-2733-6708DE2BB98A}">
          <p14:sldIdLst/>
        </p14:section>
        <p14:section name="Plan" id="{418DF88B-F9D6-5B6F-3D8B-7B4A05BE00F3}">
          <p14:sldIdLst/>
        </p14:section>
        <p14:section name="Roadmap" id="{D3BD7C8D-5E55-9440-F102-46A268ECC0CD}">
          <p14:sldIdLst/>
        </p14:section>
        <p14:section name="Close" id="{3D325FC1-F58A-D074-CEC0-B3636833F0D7}">
          <p14:sldIdLst/>
        </p14:section>
        <p14:section name="Default-1" id="{280D2B3D-4379-4C64-AE7F-DB5F44BDB8C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project in one sentence: MediGuard is a modular Smart Nurse Station prototype. Today: the problem, how it works, the market, plan and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Technical document §1.1–1.2. The problem is not that any single check is hard; it is that nurses juggle several, each on a different device or by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the contribution is the integrated, modular architecture, not any single sensor. Modules can be built and tested independently and new ones added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four steps left to right. Each module has its own controller and processing, then all modules report through the Wi-Fi module to the dashboard. Components are low-cost and widely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two sensors: weight tells how much is left, the IR sensor tells whether the drip is running. Together they distinguish low fluid from a blocked line. Threshold in the firmware flowchart is 100 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closed-loop control: measure, compare, act. Accuracy depends on sensor placement and calibration. Actuator uses a driver circuit because it needs more current than the microcontroller pin can supply.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 work: configurable schedules, missed-reminder notifications and an event log. Confirming administration would need a separate verification mechanism.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board per module keeps the system modular: a module can be swapped or debugged on its own. Be explicit that a PCB layout is design evidence, not test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candid with mentors. Simulation and PCB layout are done; the report's test tables are templates awaiting measured values. UPDATE THIS SLIDE with your actual hardware test and dashboard results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Project proposal §3.1–3.3. We deliberately avoid claiming MediGuard is cheaper or more accurate than commercial products; that needs verified price data and testing.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existing market is real and established, which validates demand for integrated nursing support. These vendors target large facilities with hospital-wide networks. Sources: Ascom, Rauland, TekTone, Jeron, Stryker Vocera; 2026 industry pricing estimates cited in our proposal. These are benchmarks, not a like-for-like price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careful: profitability is NOT established. The Ascom numbers are a company-level example. Our selling price, unit cost and demand in Ethiopia are unknown until we complete cost analysis and market research.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Budget will be finalised after exact components and local quotes. Reusable lab boards may reduce cost. 6,750 is the sum of the six priced lines in the proposal.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modular architecture is what makes the roadmap cheap to pursue: each new function is a new module plus a dashboard panel. MediGuard stays a prototype until the validation gate is passed.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inviting mentor feedback on: market positioning, which future module to prioritise, and how to structure hardware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02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MediGuard · INSA Talent Summer Camp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MediGuard · INSA Talent Summer Camp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3.xml"/><Relationship Id="rId11" Type="http://schemas.openxmlformats.org/officeDocument/2006/relationships/image" Target="../media/image16.png"/><Relationship Id="rId10" Type="http://schemas.openxmlformats.org/officeDocument/2006/relationships/image" Target="../media/image15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25.png"/><Relationship Id="rId3" Type="http://schemas.openxmlformats.org/officeDocument/2006/relationships/image" Target="../media/image7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1325880"/>
            <a:ext cx="43891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MediGuard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14884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</a:rPr>
              <a:t>A Smart Nurse Station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697480"/>
            <a:ext cx="41148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One modular embedded platform for IV fluid monitoring, room temperature regulation and medicine reminders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61188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chemeClr val="bg1"/>
                </a:solidFill>
              </a:rPr>
              <a:t>Embedded Systems · INSA Talent Summer Camp, 5th Batch (2026)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93192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Abigiya Mengistu · Hewan Kifle · Nebiyat Biadglign · Tsion Belete · Yanet Dagne · Yedi Benyam · Zenebwork Wubale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434840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1"/>
                </a:solidFill>
              </a:rPr>
              <a:t>Mentors: Gutember, Salem, Amanuel</a:t>
            </a:r>
            <a:endParaRPr lang="en-US" sz="1100" dirty="0"/>
          </a:p>
        </p:txBody>
      </p:sp>
      <p:sp>
        <p:nvSpPr>
          <p:cNvPr id="9" name="Hero frame"/>
          <p:cNvSpPr/>
          <p:nvPr/>
        </p:nvSpPr>
        <p:spPr>
          <a:xfrm>
            <a:off x="4892040" y="1097280"/>
            <a:ext cx="3840480" cy="3291840"/>
          </a:xfrm>
          <a:prstGeom prst="roundRect">
            <a:avLst>
              <a:gd name="adj" fmla="val 2778"/>
            </a:avLst>
          </a:prstGeom>
          <a:solidFill>
            <a:schemeClr val="tx2"/>
          </a:solidFill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139190"/>
            <a:ext cx="3840480" cy="32956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Nursing checks are manual and scattered</a:t>
            </a:r>
            <a:endParaRPr lang="en-US" sz="2800" dirty="0"/>
          </a:p>
        </p:txBody>
      </p:sp>
      <p:sp>
        <p:nvSpPr>
          <p:cNvPr id="3" name="Problem card 1"/>
          <p:cNvSpPr/>
          <p:nvPr/>
        </p:nvSpPr>
        <p:spPr>
          <a:xfrm>
            <a:off x="457200" y="1188720"/>
            <a:ext cx="260604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</p:spPr>
      </p:sp>
      <p:sp>
        <p:nvSpPr>
          <p:cNvPr id="4" name="Problem icon 1 circle"/>
          <p:cNvSpPr/>
          <p:nvPr/>
        </p:nvSpPr>
        <p:spPr>
          <a:xfrm>
            <a:off x="685800" y="1371600"/>
            <a:ext cx="640080" cy="640080"/>
          </a:xfrm>
          <a:prstGeom prst="ellipse">
            <a:avLst/>
          </a:prstGeom>
          <a:solidFill>
            <a:srgbClr val="0E4A54"/>
          </a:solidFill>
        </p:spPr>
      </p:sp>
      <p:pic>
        <p:nvPicPr>
          <p:cNvPr id="5" name="Problem icon 1 icon" descr="Problem icon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153802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14884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IV fluid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514600"/>
            <a:ext cx="219456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Checked by visual inspection. A bag running low or a blocked drip is easy to miss between rounds.</a:t>
            </a:r>
            <a:endParaRPr lang="en-US" sz="1300" dirty="0"/>
          </a:p>
        </p:txBody>
      </p:sp>
      <p:sp>
        <p:nvSpPr>
          <p:cNvPr id="8" name="Problem card 2"/>
          <p:cNvSpPr/>
          <p:nvPr/>
        </p:nvSpPr>
        <p:spPr>
          <a:xfrm>
            <a:off x="3246120" y="1188720"/>
            <a:ext cx="260604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</p:spPr>
      </p:sp>
      <p:sp>
        <p:nvSpPr>
          <p:cNvPr id="9" name="Problem icon 2 circle"/>
          <p:cNvSpPr/>
          <p:nvPr/>
        </p:nvSpPr>
        <p:spPr>
          <a:xfrm>
            <a:off x="3474720" y="1371600"/>
            <a:ext cx="640080" cy="640080"/>
          </a:xfrm>
          <a:prstGeom prst="ellipse">
            <a:avLst/>
          </a:prstGeom>
          <a:solidFill>
            <a:srgbClr val="0E4A54"/>
          </a:solidFill>
        </p:spPr>
      </p:sp>
      <p:pic>
        <p:nvPicPr>
          <p:cNvPr id="10" name="Problem icon 2 icon" descr="Problem ico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141" y="153802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74720" y="214884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Room temperature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514600"/>
            <a:ext cx="219456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Handled by a stand-alone thermostat, separate from every other patient-care tool.</a:t>
            </a:r>
            <a:endParaRPr lang="en-US" sz="1300" dirty="0"/>
          </a:p>
        </p:txBody>
      </p:sp>
      <p:sp>
        <p:nvSpPr>
          <p:cNvPr id="13" name="Problem card 3"/>
          <p:cNvSpPr/>
          <p:nvPr/>
        </p:nvSpPr>
        <p:spPr>
          <a:xfrm>
            <a:off x="6035040" y="1188720"/>
            <a:ext cx="260604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</p:spPr>
      </p:sp>
      <p:sp>
        <p:nvSpPr>
          <p:cNvPr id="14" name="Problem icon 3 circle"/>
          <p:cNvSpPr/>
          <p:nvPr/>
        </p:nvSpPr>
        <p:spPr>
          <a:xfrm>
            <a:off x="6263640" y="1371600"/>
            <a:ext cx="640080" cy="640080"/>
          </a:xfrm>
          <a:prstGeom prst="ellipse">
            <a:avLst/>
          </a:prstGeom>
          <a:solidFill>
            <a:srgbClr val="0E4A54"/>
          </a:solidFill>
        </p:spPr>
      </p:sp>
      <p:pic>
        <p:nvPicPr>
          <p:cNvPr id="15" name="Problem icon 3 icon" descr="Problem ico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0061" y="153802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63640" y="214884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Medication schedule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263640" y="2514600"/>
            <a:ext cx="219456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Tracked on separate reminders or by memory, so a dose can be delayed or forgotten.</a:t>
            </a:r>
            <a:endParaRPr lang="en-US" sz="1300" dirty="0"/>
          </a:p>
        </p:txBody>
      </p:sp>
      <p:sp>
        <p:nvSpPr>
          <p:cNvPr id="18" name="Problem takeaway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</p:spPr>
      </p:sp>
      <p:sp>
        <p:nvSpPr>
          <p:cNvPr id="19" name="Text 14"/>
          <p:cNvSpPr txBox="1"/>
          <p:nvPr/>
        </p:nvSpPr>
        <p:spPr>
          <a:xfrm>
            <a:off x="685800" y="384048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The gap: </a:t>
            </a:r>
            <a:r>
              <a:rPr lang="en-US" sz="1400" dirty="0">
                <a:solidFill>
                  <a:schemeClr val="bg1"/>
                </a:solidFill>
              </a:rPr>
              <a:t>three routine tasks, three separate tools, repeated manual checks. Each one adds to a nurse's workload and a chance of something being overlooked.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One station, three jobs, one dashboard</a:t>
            </a:r>
            <a:endParaRPr lang="en-US" sz="2800" dirty="0"/>
          </a:p>
        </p:txBody>
      </p:sp>
      <p:sp>
        <p:nvSpPr>
          <p:cNvPr id="3" name="Module card 1"/>
          <p:cNvSpPr/>
          <p:nvPr/>
        </p:nvSpPr>
        <p:spPr>
          <a:xfrm>
            <a:off x="457200" y="1188720"/>
            <a:ext cx="42976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</p:spPr>
      </p:sp>
      <p:sp>
        <p:nvSpPr>
          <p:cNvPr id="4" name="Module icon 1 circle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rgbClr val="14A38B"/>
          </a:solidFill>
        </p:spPr>
      </p:sp>
      <p:pic>
        <p:nvPicPr>
          <p:cNvPr id="5" name="Module icon 1 icon" descr="Module icon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726" y="1514246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29844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IV Fluid Monitoring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60020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Load cell + HX711 weigh the bag; IR sensor checks drip flow</a:t>
            </a:r>
            <a:endParaRPr lang="en-US" sz="1200" dirty="0"/>
          </a:p>
        </p:txBody>
      </p:sp>
      <p:sp>
        <p:nvSpPr>
          <p:cNvPr id="8" name="Module card 2"/>
          <p:cNvSpPr/>
          <p:nvPr/>
        </p:nvSpPr>
        <p:spPr>
          <a:xfrm>
            <a:off x="457200" y="2267712"/>
            <a:ext cx="42976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</p:spPr>
      </p:sp>
      <p:sp>
        <p:nvSpPr>
          <p:cNvPr id="9" name="Module icon 2 circle"/>
          <p:cNvSpPr/>
          <p:nvPr/>
        </p:nvSpPr>
        <p:spPr>
          <a:xfrm>
            <a:off x="640080" y="2450592"/>
            <a:ext cx="548640" cy="548640"/>
          </a:xfrm>
          <a:prstGeom prst="ellipse">
            <a:avLst/>
          </a:prstGeom>
          <a:solidFill>
            <a:srgbClr val="14A38B"/>
          </a:solidFill>
        </p:spPr>
      </p:sp>
      <p:pic>
        <p:nvPicPr>
          <p:cNvPr id="10" name="Module icon 2 icon" descr="Module ico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26" y="2593238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237744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Room Temperature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371600" y="2679192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Sensor, controller, fan and heating compartment hold the set range</a:t>
            </a:r>
            <a:endParaRPr lang="en-US" sz="1200" dirty="0"/>
          </a:p>
        </p:txBody>
      </p:sp>
      <p:sp>
        <p:nvSpPr>
          <p:cNvPr id="13" name="Module card 3"/>
          <p:cNvSpPr/>
          <p:nvPr/>
        </p:nvSpPr>
        <p:spPr>
          <a:xfrm>
            <a:off x="457200" y="3346704"/>
            <a:ext cx="42976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</p:spPr>
      </p:sp>
      <p:sp>
        <p:nvSpPr>
          <p:cNvPr id="14" name="Module icon 3 circle"/>
          <p:cNvSpPr/>
          <p:nvPr/>
        </p:nvSpPr>
        <p:spPr>
          <a:xfrm>
            <a:off x="640080" y="3529584"/>
            <a:ext cx="548640" cy="548640"/>
          </a:xfrm>
          <a:prstGeom prst="ellipse">
            <a:avLst/>
          </a:prstGeom>
          <a:solidFill>
            <a:srgbClr val="14A38B"/>
          </a:solidFill>
        </p:spPr>
      </p:sp>
      <p:pic>
        <p:nvPicPr>
          <p:cNvPr id="15" name="Module icon 3 icon" descr="Module ico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26" y="3672230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3456432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Medicine Reminder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371600" y="3758184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RTC schedule triggers an LCD message and LED alert</a:t>
            </a:r>
            <a:endParaRPr lang="en-US" sz="1200" dirty="0"/>
          </a:p>
        </p:txBody>
      </p:sp>
      <p:sp>
        <p:nvSpPr>
          <p:cNvPr id="18" name="Arrow to dashboard"/>
          <p:cNvSpPr/>
          <p:nvPr/>
        </p:nvSpPr>
        <p:spPr>
          <a:xfrm>
            <a:off x="4937760" y="2331720"/>
            <a:ext cx="640080" cy="457200"/>
          </a:xfrm>
          <a:prstGeom prst="rightArrow">
            <a:avLst/>
          </a:prstGeom>
          <a:solidFill>
            <a:schemeClr val="accent1"/>
          </a:solidFill>
        </p:spPr>
      </p:sp>
      <p:sp>
        <p:nvSpPr>
          <p:cNvPr id="19" name="Dashboard card"/>
          <p:cNvSpPr/>
          <p:nvPr/>
        </p:nvSpPr>
        <p:spPr>
          <a:xfrm>
            <a:off x="5760720" y="1188720"/>
            <a:ext cx="2926080" cy="3236976"/>
          </a:xfrm>
          <a:prstGeom prst="roundRect">
            <a:avLst>
              <a:gd name="adj" fmla="val 2500"/>
            </a:avLst>
          </a:prstGeom>
          <a:solidFill>
            <a:schemeClr val="tx2"/>
          </a:solidFill>
        </p:spPr>
      </p:sp>
      <p:sp>
        <p:nvSpPr>
          <p:cNvPr id="20" name="Dashboard icon circle"/>
          <p:cNvSpPr/>
          <p:nvPr/>
        </p:nvSpPr>
        <p:spPr>
          <a:xfrm>
            <a:off x="6035040" y="1417320"/>
            <a:ext cx="640080" cy="640080"/>
          </a:xfrm>
          <a:prstGeom prst="ellipse">
            <a:avLst/>
          </a:prstGeom>
          <a:solidFill>
            <a:srgbClr val="14A38B"/>
          </a:solidFill>
        </p:spPr>
      </p:sp>
      <p:pic>
        <p:nvPicPr>
          <p:cNvPr id="21" name="Dashboard icon icon" descr="Dashboard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1461" y="158374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035040" y="219456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Centralized dashboard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6035040" y="2606040"/>
            <a:ext cx="246888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Module status and readings in one view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Alerts that stand out from normal operation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Flags lost communication instead of showing stale data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Designed to supplement nurses, not replace clinicians or certified medical equipment.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How MediGuard works</a:t>
            </a:r>
            <a:endParaRPr lang="en-US" sz="2800" dirty="0"/>
          </a:p>
        </p:txBody>
      </p:sp>
      <p:sp>
        <p:nvSpPr>
          <p:cNvPr id="3" name="Step card 1"/>
          <p:cNvSpPr/>
          <p:nvPr/>
        </p:nvSpPr>
        <p:spPr>
          <a:xfrm>
            <a:off x="457200" y="114300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</p:spPr>
      </p:sp>
      <p:sp>
        <p:nvSpPr>
          <p:cNvPr id="4" name="Step icon 1 circle"/>
          <p:cNvSpPr/>
          <p:nvPr/>
        </p:nvSpPr>
        <p:spPr>
          <a:xfrm>
            <a:off x="594360" y="1280160"/>
            <a:ext cx="457200" cy="457200"/>
          </a:xfrm>
          <a:prstGeom prst="ellipse">
            <a:avLst/>
          </a:prstGeom>
          <a:solidFill>
            <a:srgbClr val="0E4A54"/>
          </a:solidFill>
        </p:spPr>
      </p:sp>
      <p:pic>
        <p:nvPicPr>
          <p:cNvPr id="5" name="Step icon 1 icon" descr="Step icon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39903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32588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1. Sense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874520"/>
            <a:ext cx="16916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Load cell, IR, temperature sensor, RTC</a:t>
            </a:r>
            <a:endParaRPr lang="en-US" sz="1200" dirty="0"/>
          </a:p>
        </p:txBody>
      </p:sp>
      <p:sp>
        <p:nvSpPr>
          <p:cNvPr id="8" name="Flow arrow 1"/>
          <p:cNvSpPr/>
          <p:nvPr/>
        </p:nvSpPr>
        <p:spPr>
          <a:xfrm>
            <a:off x="2395728" y="1828800"/>
            <a:ext cx="146304" cy="228600"/>
          </a:xfrm>
          <a:prstGeom prst="rightArrow">
            <a:avLst/>
          </a:prstGeom>
          <a:solidFill>
            <a:schemeClr val="accent1"/>
          </a:solidFill>
        </p:spPr>
      </p:sp>
      <p:sp>
        <p:nvSpPr>
          <p:cNvPr id="9" name="Step card 2"/>
          <p:cNvSpPr/>
          <p:nvPr/>
        </p:nvSpPr>
        <p:spPr>
          <a:xfrm>
            <a:off x="2560320" y="114300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</p:spPr>
      </p:sp>
      <p:sp>
        <p:nvSpPr>
          <p:cNvPr id="10" name="Step icon 2 circle"/>
          <p:cNvSpPr/>
          <p:nvPr/>
        </p:nvSpPr>
        <p:spPr>
          <a:xfrm>
            <a:off x="2697480" y="1280160"/>
            <a:ext cx="457200" cy="457200"/>
          </a:xfrm>
          <a:prstGeom prst="ellipse">
            <a:avLst/>
          </a:prstGeom>
          <a:solidFill>
            <a:srgbClr val="0E4A54"/>
          </a:solidFill>
        </p:spPr>
      </p:sp>
      <p:pic>
        <p:nvPicPr>
          <p:cNvPr id="11" name="Step icon 2 icon" descr="Step ico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139903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246120" y="132588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2. Process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697480" y="1874520"/>
            <a:ext cx="16916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ATmega328P firmware in C compares readings to limits</a:t>
            </a:r>
            <a:endParaRPr lang="en-US" sz="1200" dirty="0"/>
          </a:p>
        </p:txBody>
      </p:sp>
      <p:sp>
        <p:nvSpPr>
          <p:cNvPr id="14" name="Flow arrow 2"/>
          <p:cNvSpPr/>
          <p:nvPr/>
        </p:nvSpPr>
        <p:spPr>
          <a:xfrm>
            <a:off x="4498848" y="1828800"/>
            <a:ext cx="146304" cy="228600"/>
          </a:xfrm>
          <a:prstGeom prst="rightArrow">
            <a:avLst/>
          </a:prstGeom>
          <a:solidFill>
            <a:schemeClr val="accent1"/>
          </a:solidFill>
        </p:spPr>
      </p:sp>
      <p:sp>
        <p:nvSpPr>
          <p:cNvPr id="15" name="Step card 3"/>
          <p:cNvSpPr/>
          <p:nvPr/>
        </p:nvSpPr>
        <p:spPr>
          <a:xfrm>
            <a:off x="4663440" y="114300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</p:spPr>
      </p:sp>
      <p:sp>
        <p:nvSpPr>
          <p:cNvPr id="16" name="Step icon 3 circle"/>
          <p:cNvSpPr/>
          <p:nvPr/>
        </p:nvSpPr>
        <p:spPr>
          <a:xfrm>
            <a:off x="4800600" y="1280160"/>
            <a:ext cx="457200" cy="457200"/>
          </a:xfrm>
          <a:prstGeom prst="ellipse">
            <a:avLst/>
          </a:prstGeom>
          <a:solidFill>
            <a:srgbClr val="0E4A54"/>
          </a:solidFill>
        </p:spPr>
      </p:sp>
      <p:pic>
        <p:nvPicPr>
          <p:cNvPr id="17" name="Step icon 3 icon" descr="Step ico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1399032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349240" y="132588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3. Communicate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4800600" y="1874520"/>
            <a:ext cx="16916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Wi-Fi module sends status to the dashboard</a:t>
            </a:r>
            <a:endParaRPr lang="en-US" sz="1200" dirty="0"/>
          </a:p>
        </p:txBody>
      </p:sp>
      <p:sp>
        <p:nvSpPr>
          <p:cNvPr id="20" name="Flow arrow 3"/>
          <p:cNvSpPr/>
          <p:nvPr/>
        </p:nvSpPr>
        <p:spPr>
          <a:xfrm>
            <a:off x="6601968" y="1828800"/>
            <a:ext cx="146304" cy="228600"/>
          </a:xfrm>
          <a:prstGeom prst="rightArrow">
            <a:avLst/>
          </a:prstGeom>
          <a:solidFill>
            <a:schemeClr val="accent1"/>
          </a:solidFill>
        </p:spPr>
      </p:sp>
      <p:sp>
        <p:nvSpPr>
          <p:cNvPr id="21" name="Step card 4"/>
          <p:cNvSpPr/>
          <p:nvPr/>
        </p:nvSpPr>
        <p:spPr>
          <a:xfrm>
            <a:off x="6766560" y="114300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</p:spPr>
      </p:sp>
      <p:sp>
        <p:nvSpPr>
          <p:cNvPr id="22" name="Step icon 4 circle"/>
          <p:cNvSpPr/>
          <p:nvPr/>
        </p:nvSpPr>
        <p:spPr>
          <a:xfrm>
            <a:off x="6903720" y="1280160"/>
            <a:ext cx="457200" cy="457200"/>
          </a:xfrm>
          <a:prstGeom prst="ellipse">
            <a:avLst/>
          </a:prstGeom>
          <a:solidFill>
            <a:srgbClr val="0E4A54"/>
          </a:solidFill>
        </p:spPr>
      </p:sp>
      <p:pic>
        <p:nvPicPr>
          <p:cNvPr id="23" name="Step icon 4 icon" descr="Step ico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2" y="13990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452360" y="132588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4. Alert &amp; display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6903720" y="1874520"/>
            <a:ext cx="16916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Dashboard, LCD and LED show status and warnings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457200" y="29260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Hardware building blocks</a:t>
            </a:r>
            <a:endParaRPr lang="en-US" sz="1400" dirty="0"/>
          </a:p>
        </p:txBody>
      </p:sp>
      <p:sp>
        <p:nvSpPr>
          <p:cNvPr id="27" name="Part frame 1"/>
          <p:cNvSpPr/>
          <p:nvPr/>
        </p:nvSpPr>
        <p:spPr>
          <a:xfrm>
            <a:off x="457200" y="3246120"/>
            <a:ext cx="1097280" cy="100584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10252B">
                <a:alpha val="12000"/>
              </a:srgbClr>
            </a:outerShdw>
          </a:effectLst>
        </p:spPr>
      </p:sp>
      <p:pic>
        <p:nvPicPr>
          <p:cNvPr id="28" name="Part ATmega328P MCU" descr="ATmega328P MCU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48640" y="3291840"/>
            <a:ext cx="914400" cy="6858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475488" y="4005072"/>
            <a:ext cx="1060704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ATmega328P MCU</a:t>
            </a:r>
            <a:endParaRPr lang="en-US" sz="1000" dirty="0"/>
          </a:p>
        </p:txBody>
      </p:sp>
      <p:sp>
        <p:nvSpPr>
          <p:cNvPr id="30" name="Part frame 2"/>
          <p:cNvSpPr/>
          <p:nvPr/>
        </p:nvSpPr>
        <p:spPr>
          <a:xfrm>
            <a:off x="1645920" y="3246120"/>
            <a:ext cx="1097280" cy="100584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10252B">
                <a:alpha val="12000"/>
              </a:srgbClr>
            </a:outerShdw>
          </a:effectLst>
        </p:spPr>
      </p:sp>
      <p:pic>
        <p:nvPicPr>
          <p:cNvPr id="31" name="Part Load cell" descr="Load cell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737360" y="3291840"/>
            <a:ext cx="914400" cy="6858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664208" y="4005072"/>
            <a:ext cx="1060704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Load cell</a:t>
            </a:r>
            <a:endParaRPr lang="en-US" sz="1000" dirty="0"/>
          </a:p>
        </p:txBody>
      </p:sp>
      <p:sp>
        <p:nvSpPr>
          <p:cNvPr id="33" name="Part frame 3"/>
          <p:cNvSpPr/>
          <p:nvPr/>
        </p:nvSpPr>
        <p:spPr>
          <a:xfrm>
            <a:off x="2834640" y="3246120"/>
            <a:ext cx="1097280" cy="100584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10252B">
                <a:alpha val="12000"/>
              </a:srgbClr>
            </a:outerShdw>
          </a:effectLst>
        </p:spPr>
      </p:sp>
      <p:pic>
        <p:nvPicPr>
          <p:cNvPr id="34" name="Part HX711 amplifier" descr="HX711 amplifier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2926080" y="3291840"/>
            <a:ext cx="914400" cy="685800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2852928" y="4005072"/>
            <a:ext cx="1060704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HX711 amplifier</a:t>
            </a:r>
            <a:endParaRPr lang="en-US" sz="1000" dirty="0"/>
          </a:p>
        </p:txBody>
      </p:sp>
      <p:sp>
        <p:nvSpPr>
          <p:cNvPr id="36" name="Part frame 4"/>
          <p:cNvSpPr/>
          <p:nvPr/>
        </p:nvSpPr>
        <p:spPr>
          <a:xfrm>
            <a:off x="4023360" y="3246120"/>
            <a:ext cx="1097280" cy="100584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10252B">
                <a:alpha val="12000"/>
              </a:srgbClr>
            </a:outerShdw>
          </a:effectLst>
        </p:spPr>
      </p:sp>
      <p:pic>
        <p:nvPicPr>
          <p:cNvPr id="37" name="Part IR sensor" descr="IR sensor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4114800" y="3291840"/>
            <a:ext cx="914400" cy="685800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4041648" y="4005072"/>
            <a:ext cx="1060704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IR sensor</a:t>
            </a:r>
            <a:endParaRPr lang="en-US" sz="1000" dirty="0"/>
          </a:p>
        </p:txBody>
      </p:sp>
      <p:sp>
        <p:nvSpPr>
          <p:cNvPr id="39" name="Part frame 5"/>
          <p:cNvSpPr/>
          <p:nvPr/>
        </p:nvSpPr>
        <p:spPr>
          <a:xfrm>
            <a:off x="5212080" y="3246120"/>
            <a:ext cx="1097280" cy="100584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10252B">
                <a:alpha val="12000"/>
              </a:srgbClr>
            </a:outerShdw>
          </a:effectLst>
        </p:spPr>
      </p:sp>
      <p:pic>
        <p:nvPicPr>
          <p:cNvPr id="40" name="Part Temperature sensor" descr="Temperature sensor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5303520" y="3291840"/>
            <a:ext cx="914400" cy="685800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5230368" y="4005072"/>
            <a:ext cx="1060704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Temperature sensor</a:t>
            </a:r>
            <a:endParaRPr lang="en-US" sz="1000" dirty="0"/>
          </a:p>
        </p:txBody>
      </p:sp>
      <p:sp>
        <p:nvSpPr>
          <p:cNvPr id="42" name="Part frame 6"/>
          <p:cNvSpPr/>
          <p:nvPr/>
        </p:nvSpPr>
        <p:spPr>
          <a:xfrm>
            <a:off x="6400800" y="3246120"/>
            <a:ext cx="1097280" cy="100584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10252B">
                <a:alpha val="12000"/>
              </a:srgbClr>
            </a:outerShdw>
          </a:effectLst>
        </p:spPr>
      </p:sp>
      <p:pic>
        <p:nvPicPr>
          <p:cNvPr id="43" name="Part RTC module" descr="RTC module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6492240" y="3291840"/>
            <a:ext cx="914400" cy="685800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6419088" y="4005072"/>
            <a:ext cx="1060704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RTC module</a:t>
            </a:r>
            <a:endParaRPr lang="en-US" sz="1000" dirty="0"/>
          </a:p>
        </p:txBody>
      </p:sp>
      <p:sp>
        <p:nvSpPr>
          <p:cNvPr id="45" name="Part frame 7"/>
          <p:cNvSpPr/>
          <p:nvPr/>
        </p:nvSpPr>
        <p:spPr>
          <a:xfrm>
            <a:off x="7589520" y="3246120"/>
            <a:ext cx="1097280" cy="100584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10252B">
                <a:alpha val="12000"/>
              </a:srgbClr>
            </a:outerShdw>
          </a:effectLst>
        </p:spPr>
      </p:sp>
      <p:pic>
        <p:nvPicPr>
          <p:cNvPr id="46" name="Part LCD (I2C)" descr="LCD (I2C)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7680960" y="3291840"/>
            <a:ext cx="914400" cy="685800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7607808" y="4005072"/>
            <a:ext cx="1060704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LCD (I2C)</a:t>
            </a:r>
            <a:endParaRPr lang="en-US" sz="10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IV monitoring: weight plus flow</a:t>
            </a:r>
            <a:endParaRPr lang="en-US" sz="2800" dirty="0"/>
          </a:p>
        </p:txBody>
      </p:sp>
      <p:sp>
        <p:nvSpPr>
          <p:cNvPr id="3" name="Sim frame"/>
          <p:cNvSpPr/>
          <p:nvPr/>
        </p:nvSpPr>
        <p:spPr>
          <a:xfrm>
            <a:off x="457200" y="1188720"/>
            <a:ext cx="4480560" cy="27432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1905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10252B">
                <a:alpha val="12000"/>
              </a:srgbClr>
            </a:outerShdw>
          </a:effectLst>
        </p:spPr>
      </p:sp>
      <p:pic>
        <p:nvPicPr>
          <p:cNvPr id="4" name="IV Proteus" descr="Proteus simulation of the IV fluid monitoring circuit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48640" y="1280160"/>
            <a:ext cx="4297680" cy="2560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023360"/>
            <a:ext cx="44805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Proteus simulation of the IV module</a:t>
            </a:r>
            <a:endParaRPr lang="en-US" sz="1000" dirty="0"/>
          </a:p>
        </p:txBody>
      </p:sp>
      <p:sp>
        <p:nvSpPr>
          <p:cNvPr id="6" name="Step num 1"/>
          <p:cNvSpPr/>
          <p:nvPr/>
        </p:nvSpPr>
        <p:spPr>
          <a:xfrm>
            <a:off x="5212080" y="1234440"/>
            <a:ext cx="384048" cy="384048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7" name="Text 4"/>
          <p:cNvSpPr txBox="1"/>
          <p:nvPr/>
        </p:nvSpPr>
        <p:spPr>
          <a:xfrm>
            <a:off x="5212080" y="12344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1188720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Weigh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760720" y="1435608"/>
            <a:ext cx="2926080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Load cell + HX711 give a digital weight; calibration converts it to fluid weight.</a:t>
            </a:r>
            <a:endParaRPr lang="en-US" sz="1200" dirty="0"/>
          </a:p>
        </p:txBody>
      </p:sp>
      <p:sp>
        <p:nvSpPr>
          <p:cNvPr id="10" name="Step num 2"/>
          <p:cNvSpPr/>
          <p:nvPr/>
        </p:nvSpPr>
        <p:spPr>
          <a:xfrm>
            <a:off x="5212080" y="1947672"/>
            <a:ext cx="384048" cy="384048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1" name="Text 8"/>
          <p:cNvSpPr txBox="1"/>
          <p:nvPr/>
        </p:nvSpPr>
        <p:spPr>
          <a:xfrm>
            <a:off x="5212080" y="194767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760720" y="1901952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Warn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760720" y="2148840"/>
            <a:ext cx="2926080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At or below 100 g the firmware sets a low-fluid warning.</a:t>
            </a:r>
            <a:endParaRPr lang="en-US" sz="1200" dirty="0"/>
          </a:p>
        </p:txBody>
      </p:sp>
      <p:sp>
        <p:nvSpPr>
          <p:cNvPr id="14" name="Step num 3"/>
          <p:cNvSpPr/>
          <p:nvPr/>
        </p:nvSpPr>
        <p:spPr>
          <a:xfrm>
            <a:off x="5212080" y="2660904"/>
            <a:ext cx="384048" cy="384048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5" name="Text 12"/>
          <p:cNvSpPr txBox="1"/>
          <p:nvPr/>
        </p:nvSpPr>
        <p:spPr>
          <a:xfrm>
            <a:off x="5212080" y="266090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760720" y="2615184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Watch the drip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760720" y="2862072"/>
            <a:ext cx="2926080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IR sensor: HIGH = flow detected, LOW = flow blocked.</a:t>
            </a:r>
            <a:endParaRPr lang="en-US" sz="1200" dirty="0"/>
          </a:p>
        </p:txBody>
      </p:sp>
      <p:sp>
        <p:nvSpPr>
          <p:cNvPr id="18" name="Step num 4"/>
          <p:cNvSpPr/>
          <p:nvPr/>
        </p:nvSpPr>
        <p:spPr>
          <a:xfrm>
            <a:off x="5212080" y="3374136"/>
            <a:ext cx="384048" cy="384048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9" name="Text 16"/>
          <p:cNvSpPr txBox="1"/>
          <p:nvPr/>
        </p:nvSpPr>
        <p:spPr>
          <a:xfrm>
            <a:off x="5212080" y="33741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760720" y="3328416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Report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760720" y="3575304"/>
            <a:ext cx="2926080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LED indication locally; status sent to the dashboard.</a:t>
            </a:r>
            <a:endParaRPr lang="en-US" sz="1200" dirty="0"/>
          </a:p>
        </p:txBody>
      </p:sp>
      <p:sp>
        <p:nvSpPr>
          <p:cNvPr id="22" name="IV caveat"/>
          <p:cNvSpPr/>
          <p:nvPr/>
        </p:nvSpPr>
        <p:spPr>
          <a:xfrm>
            <a:off x="457200" y="4343400"/>
            <a:ext cx="8229600" cy="365760"/>
          </a:xfrm>
          <a:prstGeom prst="roundRect">
            <a:avLst>
              <a:gd name="adj" fmla="val 20000"/>
            </a:avLst>
          </a:prstGeom>
          <a:solidFill>
            <a:schemeClr val="bg2"/>
          </a:solidFill>
        </p:spPr>
      </p:sp>
      <p:sp>
        <p:nvSpPr>
          <p:cNvPr id="23" name="Text 20"/>
          <p:cNvSpPr txBox="1"/>
          <p:nvPr/>
        </p:nvSpPr>
        <p:spPr>
          <a:xfrm>
            <a:off x="640080" y="434340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1"/>
                </a:solidFill>
              </a:rPr>
              <a:t>Limit: observes level and flow only. It does not measure or control the infusion rate.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Room temperature regulation</a:t>
            </a:r>
            <a:endParaRPr lang="en-US" sz="2800" dirty="0"/>
          </a:p>
        </p:txBody>
      </p:sp>
      <p:sp>
        <p:nvSpPr>
          <p:cNvPr id="3" name="Temp step card 1"/>
          <p:cNvSpPr/>
          <p:nvPr/>
        </p:nvSpPr>
        <p:spPr>
          <a:xfrm>
            <a:off x="457200" y="1188720"/>
            <a:ext cx="402336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</p:spPr>
      </p:sp>
      <p:sp>
        <p:nvSpPr>
          <p:cNvPr id="4" name="Text 2"/>
          <p:cNvSpPr txBox="1"/>
          <p:nvPr/>
        </p:nvSpPr>
        <p:spPr>
          <a:xfrm>
            <a:off x="640080" y="1252728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Measure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234440"/>
            <a:ext cx="28346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Temperature sensor reads ambient temperature; invalid readings are flagged as a sensor error.</a:t>
            </a:r>
            <a:endParaRPr lang="en-US" sz="1150" dirty="0"/>
          </a:p>
        </p:txBody>
      </p:sp>
      <p:sp>
        <p:nvSpPr>
          <p:cNvPr id="6" name="Temp step card 2"/>
          <p:cNvSpPr/>
          <p:nvPr/>
        </p:nvSpPr>
        <p:spPr>
          <a:xfrm>
            <a:off x="457200" y="1965960"/>
            <a:ext cx="402336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</p:spPr>
      </p:sp>
      <p:sp>
        <p:nvSpPr>
          <p:cNvPr id="7" name="Text 5"/>
          <p:cNvSpPr txBox="1"/>
          <p:nvPr/>
        </p:nvSpPr>
        <p:spPr>
          <a:xfrm>
            <a:off x="640080" y="2029968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Compare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011680"/>
            <a:ext cx="28346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Controller checks the reading against configured upper and lower limits.</a:t>
            </a:r>
            <a:endParaRPr lang="en-US" sz="1150" dirty="0"/>
          </a:p>
        </p:txBody>
      </p:sp>
      <p:sp>
        <p:nvSpPr>
          <p:cNvPr id="9" name="Temp step card 3"/>
          <p:cNvSpPr/>
          <p:nvPr/>
        </p:nvSpPr>
        <p:spPr>
          <a:xfrm>
            <a:off x="457200" y="2743200"/>
            <a:ext cx="402336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</p:spPr>
      </p:sp>
      <p:sp>
        <p:nvSpPr>
          <p:cNvPr id="10" name="Text 8"/>
          <p:cNvSpPr txBox="1"/>
          <p:nvPr/>
        </p:nvSpPr>
        <p:spPr>
          <a:xfrm>
            <a:off x="640080" y="2807208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Act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788920"/>
            <a:ext cx="28346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Fan for cooling or heating compartment, switched through a driver circuit.</a:t>
            </a:r>
            <a:endParaRPr lang="en-US" sz="1150" dirty="0"/>
          </a:p>
        </p:txBody>
      </p:sp>
      <p:sp>
        <p:nvSpPr>
          <p:cNvPr id="12" name="Temp step card 4"/>
          <p:cNvSpPr/>
          <p:nvPr/>
        </p:nvSpPr>
        <p:spPr>
          <a:xfrm>
            <a:off x="457200" y="3520440"/>
            <a:ext cx="402336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</p:spPr>
      </p:sp>
      <p:sp>
        <p:nvSpPr>
          <p:cNvPr id="13" name="Text 11"/>
          <p:cNvSpPr txBox="1"/>
          <p:nvPr/>
        </p:nvSpPr>
        <p:spPr>
          <a:xfrm>
            <a:off x="640080" y="3584448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Show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566160"/>
            <a:ext cx="28346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Actuator state and temperature on the LCD and dashboard.</a:t>
            </a:r>
            <a:endParaRPr lang="en-US" sz="1150" dirty="0"/>
          </a:p>
        </p:txBody>
      </p:sp>
      <p:sp>
        <p:nvSpPr>
          <p:cNvPr id="15" name="Sim frame"/>
          <p:cNvSpPr/>
          <p:nvPr/>
        </p:nvSpPr>
        <p:spPr>
          <a:xfrm>
            <a:off x="4754880" y="1188720"/>
            <a:ext cx="3931920" cy="292608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905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10252B">
                <a:alpha val="12000"/>
              </a:srgbClr>
            </a:outerShdw>
          </a:effectLst>
        </p:spPr>
      </p:sp>
      <p:pic>
        <p:nvPicPr>
          <p:cNvPr id="16" name="Temp Proteus" descr="Proteus simulation of the room temperature regulation circuit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846320" y="1280160"/>
            <a:ext cx="3749040" cy="27432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4754880" y="4206240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Proteus simulation of the temperature module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Medicine reminders</a:t>
            </a:r>
            <a:endParaRPr lang="en-US" sz="2800" dirty="0"/>
          </a:p>
        </p:txBody>
      </p:sp>
      <p:sp>
        <p:nvSpPr>
          <p:cNvPr id="3" name="Sim frame"/>
          <p:cNvSpPr/>
          <p:nvPr/>
        </p:nvSpPr>
        <p:spPr>
          <a:xfrm>
            <a:off x="457200" y="1188720"/>
            <a:ext cx="4480560" cy="27432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1905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10252B">
                <a:alpha val="12000"/>
              </a:srgbClr>
            </a:outerShdw>
          </a:effectLst>
        </p:spPr>
      </p:sp>
      <p:pic>
        <p:nvPicPr>
          <p:cNvPr id="4" name="Reminder Proteus" descr="Proteus simulation of the medicine reminder circuit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48640" y="1280160"/>
            <a:ext cx="4297680" cy="2560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023360"/>
            <a:ext cx="44805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Proteus simulation of the reminder module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212080" y="118872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Time-based alerts, no clinical decisions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212080" y="1600200"/>
            <a:ext cx="347472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 real-time clock (RTC) keeps accurate time independent of the microcontroller.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Firmware compares the current time with the configured schedule.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When a dose is due: message on the LCD and an LED alert.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Duplicate-trigger handling so one event does not alert repeatedly.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Reminder status is also sent to the dashboard.</a:t>
            </a:r>
            <a:endParaRPr lang="en-US" sz="1300" dirty="0"/>
          </a:p>
        </p:txBody>
      </p:sp>
      <p:sp>
        <p:nvSpPr>
          <p:cNvPr id="8" name="Reminder caveat"/>
          <p:cNvSpPr/>
          <p:nvPr/>
        </p:nvSpPr>
        <p:spPr>
          <a:xfrm>
            <a:off x="457200" y="4343400"/>
            <a:ext cx="8229600" cy="365760"/>
          </a:xfrm>
          <a:prstGeom prst="roundRect">
            <a:avLst>
              <a:gd name="adj" fmla="val 20000"/>
            </a:avLst>
          </a:prstGeom>
          <a:solidFill>
            <a:schemeClr val="bg2"/>
          </a:solidFill>
        </p:spPr>
      </p:sp>
      <p:sp>
        <p:nvSpPr>
          <p:cNvPr id="9" name="Text 6"/>
          <p:cNvSpPr txBox="1"/>
          <p:nvPr/>
        </p:nvSpPr>
        <p:spPr>
          <a:xfrm>
            <a:off x="640080" y="434340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1"/>
                </a:solidFill>
              </a:rPr>
              <a:t>Limit: schedules reminders only. It does not confirm the medicine was actually taken.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Simulated, then laid out as custom PCBs</a:t>
            </a:r>
            <a:endParaRPr lang="en-US" sz="2800" dirty="0"/>
          </a:p>
        </p:txBody>
      </p:sp>
      <p:sp>
        <p:nvSpPr>
          <p:cNvPr id="3" name="PCB frame 1"/>
          <p:cNvSpPr/>
          <p:nvPr/>
        </p:nvSpPr>
        <p:spPr>
          <a:xfrm>
            <a:off x="457200" y="118872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tx1"/>
          </a:solidFill>
          <a:effectLst>
            <a:outerShdw blurRad="76200" dist="25400" dir="5400000" algn="bl" rotWithShape="0">
              <a:srgbClr val="10252B">
                <a:alpha val="12000"/>
              </a:srgbClr>
            </a:outerShdw>
          </a:effectLst>
        </p:spPr>
      </p:sp>
      <p:pic>
        <p:nvPicPr>
          <p:cNvPr id="4" name="PCB 1" descr="IV monitoring PCB layout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48640" y="1280160"/>
            <a:ext cx="2423160" cy="1920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383280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IV monitoring PCB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657600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LCD, HX711 and IR sensor headers</a:t>
            </a:r>
            <a:endParaRPr lang="en-US" sz="1200" dirty="0"/>
          </a:p>
        </p:txBody>
      </p:sp>
      <p:sp>
        <p:nvSpPr>
          <p:cNvPr id="7" name="PCB frame 2"/>
          <p:cNvSpPr/>
          <p:nvPr/>
        </p:nvSpPr>
        <p:spPr>
          <a:xfrm>
            <a:off x="3246120" y="118872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tx1"/>
          </a:solidFill>
          <a:effectLst>
            <a:outerShdw blurRad="76200" dist="25400" dir="5400000" algn="bl" rotWithShape="0">
              <a:srgbClr val="10252B">
                <a:alpha val="12000"/>
              </a:srgbClr>
            </a:outerShdw>
          </a:effectLst>
        </p:spPr>
      </p:sp>
      <p:pic>
        <p:nvPicPr>
          <p:cNvPr id="8" name="PCB 2" descr="Temperature PCB layout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337560" y="1280160"/>
            <a:ext cx="2423160" cy="19202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246120" y="3383280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Temperature PCB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3246120" y="3657600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LCD, buzzer, driver and relay stage</a:t>
            </a:r>
            <a:endParaRPr lang="en-US" sz="1200" dirty="0"/>
          </a:p>
        </p:txBody>
      </p:sp>
      <p:sp>
        <p:nvSpPr>
          <p:cNvPr id="11" name="PCB frame 3"/>
          <p:cNvSpPr/>
          <p:nvPr/>
        </p:nvSpPr>
        <p:spPr>
          <a:xfrm>
            <a:off x="6035040" y="118872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tx1"/>
          </a:solidFill>
          <a:effectLst>
            <a:outerShdw blurRad="76200" dist="25400" dir="5400000" algn="bl" rotWithShape="0">
              <a:srgbClr val="10252B">
                <a:alpha val="12000"/>
              </a:srgbClr>
            </a:outerShdw>
          </a:effectLst>
        </p:spPr>
      </p:sp>
      <p:pic>
        <p:nvPicPr>
          <p:cNvPr id="12" name="PCB 3" descr="Medicine reminder PCB layout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126480" y="1280160"/>
            <a:ext cx="2423160" cy="19202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035040" y="3383280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Medicine reminder PCB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6035040" y="3657600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RTC, LCD and notification outputs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PCB layouts were designed per module to cover placement, routing, power and sensor connections. Layouts show the design; they do not by themselves prove each function works on hardware.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Where the project stands today</a:t>
            </a:r>
            <a:endParaRPr lang="en-US" sz="2800" dirty="0"/>
          </a:p>
        </p:txBody>
      </p:sp>
      <p:graphicFrame>
        <p:nvGraphicFramePr>
          <p:cNvPr id="10" name="Status table"/>
          <p:cNvGraphicFramePr>
            <a:graphicFrameLocks noGrp="1"/>
          </p:cNvGraphicFramePr>
          <p:nvPr/>
        </p:nvGraphicFramePr>
        <p:xfrm>
          <a:off x="457200" y="1188720"/>
          <a:ext cx="5029200" cy="2852928"/>
        </p:xfrm>
        <a:graphic>
          <a:graphicData uri="http://schemas.openxmlformats.org/drawingml/2006/table">
            <a:tbl>
              <a:tblPr/>
              <a:tblGrid>
                <a:gridCol w="1463040"/>
                <a:gridCol w="2468880"/>
                <a:gridCol w="1097280"/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Area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Evidence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Circuit simulation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Proteus schematics, all three modules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Completed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PCB design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Layouts + 3D views, all three modules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Completed (design)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Embedded firmware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 on ATmega328P; flowcharts per module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Developed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Hardware testing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Measured results on physical boards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To be recorded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Dashboard live data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End-to-end Wi-Fi communication test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To be verified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Limitations card"/>
          <p:cNvSpPr/>
          <p:nvPr/>
        </p:nvSpPr>
        <p:spPr>
          <a:xfrm>
            <a:off x="5760720" y="1188720"/>
            <a:ext cx="2926080" cy="2852928"/>
          </a:xfrm>
          <a:prstGeom prst="roundRect">
            <a:avLst>
              <a:gd name="adj" fmla="val 2564"/>
            </a:avLst>
          </a:prstGeom>
          <a:solidFill>
            <a:schemeClr val="tx2"/>
          </a:solidFill>
        </p:spPr>
      </p:sp>
      <p:sp>
        <p:nvSpPr>
          <p:cNvPr id="5" name="Text 2"/>
          <p:cNvSpPr txBox="1"/>
          <p:nvPr/>
        </p:nvSpPr>
        <p:spPr>
          <a:xfrm>
            <a:off x="5943600" y="13258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Known limitations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1691640"/>
            <a:ext cx="256032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bg2"/>
                </a:solidFill>
              </a:rPr>
              <a:t>Accuracy depends on calibration and sensor placement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bg2"/>
                </a:solidFill>
              </a:rPr>
              <a:t>Reminders do not verify intake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bg2"/>
                </a:solidFill>
              </a:rPr>
              <a:t>IV module does not control infusion rate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bg2"/>
                </a:solidFill>
              </a:rPr>
              <a:t>Prototype, not a certified medical device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We separate what is simulated, what is designed and what is verified on hardware, and only report verified results as working.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Target users and current alternatives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Who it is for</a:t>
            </a:r>
            <a:endParaRPr lang="en-US" sz="1600" dirty="0"/>
          </a:p>
        </p:txBody>
      </p:sp>
      <p:sp>
        <p:nvSpPr>
          <p:cNvPr id="4" name="User icon 1 circle"/>
          <p:cNvSpPr/>
          <p:nvPr/>
        </p:nvSpPr>
        <p:spPr>
          <a:xfrm>
            <a:off x="457200" y="1508760"/>
            <a:ext cx="457200" cy="457200"/>
          </a:xfrm>
          <a:prstGeom prst="ellipse">
            <a:avLst/>
          </a:prstGeom>
          <a:solidFill>
            <a:srgbClr val="0E4A54"/>
          </a:solidFill>
        </p:spPr>
      </p:sp>
      <p:pic>
        <p:nvPicPr>
          <p:cNvPr id="5" name="User icon 1 icon" descr="User icon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62763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50876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Hospitals and health centers</a:t>
            </a:r>
            <a:endParaRPr lang="en-US" sz="1300" dirty="0"/>
          </a:p>
        </p:txBody>
      </p:sp>
      <p:sp>
        <p:nvSpPr>
          <p:cNvPr id="7" name="User icon 2 circle"/>
          <p:cNvSpPr/>
          <p:nvPr/>
        </p:nvSpPr>
        <p:spPr>
          <a:xfrm>
            <a:off x="457200" y="2148840"/>
            <a:ext cx="457200" cy="457200"/>
          </a:xfrm>
          <a:prstGeom prst="ellipse">
            <a:avLst/>
          </a:prstGeom>
          <a:solidFill>
            <a:srgbClr val="0E4A54"/>
          </a:solidFill>
        </p:spPr>
      </p:sp>
      <p:pic>
        <p:nvPicPr>
          <p:cNvPr id="8" name="User icon 2 icon" descr="User ico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2267712"/>
            <a:ext cx="219456" cy="2194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51560" y="214884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Nursing staff doing routine patient care</a:t>
            </a:r>
            <a:endParaRPr lang="en-US" sz="1300" dirty="0"/>
          </a:p>
        </p:txBody>
      </p:sp>
      <p:sp>
        <p:nvSpPr>
          <p:cNvPr id="10" name="User icon 3 circle"/>
          <p:cNvSpPr/>
          <p:nvPr/>
        </p:nvSpPr>
        <p:spPr>
          <a:xfrm>
            <a:off x="457200" y="2788920"/>
            <a:ext cx="457200" cy="457200"/>
          </a:xfrm>
          <a:prstGeom prst="ellipse">
            <a:avLst/>
          </a:prstGeom>
          <a:solidFill>
            <a:srgbClr val="0E4A54"/>
          </a:solidFill>
        </p:spPr>
      </p:sp>
      <p:pic>
        <p:nvPicPr>
          <p:cNvPr id="11" name="User icon 3 icon" descr="User ico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907792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51560" y="278892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Institutions interested in monitoring and automation</a:t>
            </a:r>
            <a:endParaRPr lang="en-US" sz="1300" dirty="0"/>
          </a:p>
        </p:txBody>
      </p:sp>
      <p:sp>
        <p:nvSpPr>
          <p:cNvPr id="13" name="User icon 4 circle"/>
          <p:cNvSpPr/>
          <p:nvPr/>
        </p:nvSpPr>
        <p:spPr>
          <a:xfrm>
            <a:off x="457200" y="3429000"/>
            <a:ext cx="457200" cy="457200"/>
          </a:xfrm>
          <a:prstGeom prst="ellipse">
            <a:avLst/>
          </a:prstGeom>
          <a:solidFill>
            <a:srgbClr val="0E4A54"/>
          </a:solidFill>
        </p:spPr>
      </p:sp>
      <p:pic>
        <p:nvPicPr>
          <p:cNvPr id="14" name="User icon 4 icon" descr="User ico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3547872"/>
            <a:ext cx="219456" cy="21945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51560" y="342900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Developers who extend the platform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457200" y="411480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Potential future users, not confirmed customers.</a:t>
            </a:r>
            <a:endParaRPr lang="en-US" sz="1100" dirty="0"/>
          </a:p>
        </p:txBody>
      </p:sp>
      <p:sp>
        <p:nvSpPr>
          <p:cNvPr id="17" name="Alternatives card"/>
          <p:cNvSpPr/>
          <p:nvPr/>
        </p:nvSpPr>
        <p:spPr>
          <a:xfrm>
            <a:off x="4754880" y="1143000"/>
            <a:ext cx="3931920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</p:spPr>
      </p:sp>
      <p:sp>
        <p:nvSpPr>
          <p:cNvPr id="18" name="Text 12"/>
          <p:cNvSpPr txBox="1"/>
          <p:nvPr/>
        </p:nvSpPr>
        <p:spPr>
          <a:xfrm>
            <a:off x="4983480" y="128016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exists today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4983480" y="1645920"/>
            <a:ext cx="347472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Manual IV inspection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Stand-alone IV monitoring devices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Conventional room thermostats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Separate medication reminder devices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4983480" y="2971800"/>
            <a:ext cx="3474720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6"/>
                </a:solidFill>
              </a:rPr>
              <a:t>Where MediGuard differs: </a:t>
            </a:r>
            <a:r>
              <a:rPr lang="en-US" sz="1250" dirty="0">
                <a:solidFill>
                  <a:schemeClr val="tx1"/>
                </a:solidFill>
              </a:rPr>
              <a:t>it combines the three functions on one modular platform. That integration is the design objective; it is not yet proof of lower cost or better accuracy.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The market: nurse-call is priced per bed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Indicative hardware + software cost per bed (US$, 2026 industry estimates)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Basic nurse call</a:t>
            </a:r>
            <a:endParaRPr lang="en-US" sz="1200" dirty="0"/>
          </a:p>
        </p:txBody>
      </p:sp>
      <p:sp>
        <p:nvSpPr>
          <p:cNvPr id="5" name="Range bar 1"/>
          <p:cNvSpPr/>
          <p:nvPr/>
        </p:nvSpPr>
        <p:spPr>
          <a:xfrm>
            <a:off x="1197864" y="1828800"/>
            <a:ext cx="1124712" cy="411480"/>
          </a:xfrm>
          <a:prstGeom prst="roundRect">
            <a:avLst>
              <a:gd name="adj" fmla="val 11111"/>
            </a:avLst>
          </a:prstGeom>
          <a:solidFill>
            <a:srgbClr val="14A38B"/>
          </a:solidFill>
        </p:spPr>
      </p:sp>
      <p:sp>
        <p:nvSpPr>
          <p:cNvPr id="6" name="Text 4"/>
          <p:cNvSpPr txBox="1"/>
          <p:nvPr/>
        </p:nvSpPr>
        <p:spPr>
          <a:xfrm>
            <a:off x="1197864" y="1828800"/>
            <a:ext cx="112471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$500–2,000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4231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Advanced integrated</a:t>
            </a:r>
            <a:endParaRPr lang="en-US" sz="1200" dirty="0"/>
          </a:p>
        </p:txBody>
      </p:sp>
      <p:sp>
        <p:nvSpPr>
          <p:cNvPr id="8" name="Range bar 2"/>
          <p:cNvSpPr/>
          <p:nvPr/>
        </p:nvSpPr>
        <p:spPr>
          <a:xfrm>
            <a:off x="2322576" y="2697480"/>
            <a:ext cx="2249424" cy="411480"/>
          </a:xfrm>
          <a:prstGeom prst="roundRect">
            <a:avLst>
              <a:gd name="adj" fmla="val 11111"/>
            </a:avLst>
          </a:prstGeom>
          <a:solidFill>
            <a:srgbClr val="0E4A54"/>
          </a:solidFill>
        </p:spPr>
      </p:sp>
      <p:sp>
        <p:nvSpPr>
          <p:cNvPr id="9" name="Text 7"/>
          <p:cNvSpPr txBox="1"/>
          <p:nvPr/>
        </p:nvSpPr>
        <p:spPr>
          <a:xfrm>
            <a:off x="2322576" y="2697480"/>
            <a:ext cx="224942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$2,000–5,000</a:t>
            </a:r>
            <a:endParaRPr lang="en-US" sz="1300" dirty="0"/>
          </a:p>
        </p:txBody>
      </p:sp>
      <p:sp>
        <p:nvSpPr>
          <p:cNvPr id="10" name="Axis"/>
          <p:cNvSpPr/>
          <p:nvPr/>
        </p:nvSpPr>
        <p:spPr>
          <a:xfrm>
            <a:off x="822960" y="3429000"/>
            <a:ext cx="3749040" cy="0"/>
          </a:xfrm>
          <a:prstGeom prst="line">
            <a:avLst/>
          </a:prstGeom>
          <a:noFill/>
          <a:ln w="12700">
            <a:solidFill>
              <a:srgbClr val="6B7F85"/>
            </a:solidFill>
            <a:prstDash val="solid"/>
          </a:ln>
        </p:spPr>
      </p:sp>
      <p:sp>
        <p:nvSpPr>
          <p:cNvPr id="11" name="Tick 0"/>
          <p:cNvSpPr/>
          <p:nvPr/>
        </p:nvSpPr>
        <p:spPr>
          <a:xfrm>
            <a:off x="822960" y="3429000"/>
            <a:ext cx="0" cy="54864"/>
          </a:xfrm>
          <a:prstGeom prst="line">
            <a:avLst/>
          </a:prstGeom>
          <a:noFill/>
          <a:ln w="12700">
            <a:solidFill>
              <a:srgbClr val="6B7F8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502152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</a:rPr>
              <a:t>0</a:t>
            </a:r>
            <a:endParaRPr lang="en-US" sz="1000" dirty="0"/>
          </a:p>
        </p:txBody>
      </p:sp>
      <p:sp>
        <p:nvSpPr>
          <p:cNvPr id="13" name="Tick 1000"/>
          <p:cNvSpPr/>
          <p:nvPr/>
        </p:nvSpPr>
        <p:spPr>
          <a:xfrm>
            <a:off x="1572768" y="3429000"/>
            <a:ext cx="0" cy="54864"/>
          </a:xfrm>
          <a:prstGeom prst="line">
            <a:avLst/>
          </a:prstGeom>
          <a:noFill/>
          <a:ln w="12700">
            <a:solidFill>
              <a:srgbClr val="6B7F8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98448" y="3502152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</a:rPr>
              <a:t>$1k</a:t>
            </a:r>
            <a:endParaRPr lang="en-US" sz="1000" dirty="0"/>
          </a:p>
        </p:txBody>
      </p:sp>
      <p:sp>
        <p:nvSpPr>
          <p:cNvPr id="15" name="Tick 2000"/>
          <p:cNvSpPr/>
          <p:nvPr/>
        </p:nvSpPr>
        <p:spPr>
          <a:xfrm>
            <a:off x="2322576" y="3429000"/>
            <a:ext cx="0" cy="54864"/>
          </a:xfrm>
          <a:prstGeom prst="line">
            <a:avLst/>
          </a:prstGeom>
          <a:noFill/>
          <a:ln w="12700">
            <a:solidFill>
              <a:srgbClr val="6B7F8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048256" y="3502152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</a:rPr>
              <a:t>$2k</a:t>
            </a:r>
            <a:endParaRPr lang="en-US" sz="1000" dirty="0"/>
          </a:p>
        </p:txBody>
      </p:sp>
      <p:sp>
        <p:nvSpPr>
          <p:cNvPr id="17" name="Tick 3000"/>
          <p:cNvSpPr/>
          <p:nvPr/>
        </p:nvSpPr>
        <p:spPr>
          <a:xfrm>
            <a:off x="3072384" y="3429000"/>
            <a:ext cx="0" cy="54864"/>
          </a:xfrm>
          <a:prstGeom prst="line">
            <a:avLst/>
          </a:prstGeom>
          <a:noFill/>
          <a:ln w="12700">
            <a:solidFill>
              <a:srgbClr val="6B7F8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798064" y="3502152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</a:rPr>
              <a:t>$3k</a:t>
            </a:r>
            <a:endParaRPr lang="en-US" sz="1000" dirty="0"/>
          </a:p>
        </p:txBody>
      </p:sp>
      <p:sp>
        <p:nvSpPr>
          <p:cNvPr id="19" name="Tick 4000"/>
          <p:cNvSpPr/>
          <p:nvPr/>
        </p:nvSpPr>
        <p:spPr>
          <a:xfrm>
            <a:off x="3822192" y="3429000"/>
            <a:ext cx="0" cy="54864"/>
          </a:xfrm>
          <a:prstGeom prst="line">
            <a:avLst/>
          </a:prstGeom>
          <a:noFill/>
          <a:ln w="12700">
            <a:solidFill>
              <a:srgbClr val="6B7F8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47872" y="3502152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</a:rPr>
              <a:t>$4k</a:t>
            </a:r>
            <a:endParaRPr lang="en-US" sz="1000" dirty="0"/>
          </a:p>
        </p:txBody>
      </p:sp>
      <p:sp>
        <p:nvSpPr>
          <p:cNvPr id="21" name="Tick 5000"/>
          <p:cNvSpPr/>
          <p:nvPr/>
        </p:nvSpPr>
        <p:spPr>
          <a:xfrm>
            <a:off x="4572000" y="3429000"/>
            <a:ext cx="0" cy="54864"/>
          </a:xfrm>
          <a:prstGeom prst="line">
            <a:avLst/>
          </a:prstGeom>
          <a:noFill/>
          <a:ln w="12700">
            <a:solidFill>
              <a:srgbClr val="6B7F8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297680" y="3502152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</a:rPr>
              <a:t>$5k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840480"/>
            <a:ext cx="429768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Installation, cabling, integration and maintenance add to this. Figures are international estimates, not Ethiopian prices or quotes for MediGuard.</a:t>
            </a:r>
            <a:endParaRPr lang="en-US" sz="1100" dirty="0"/>
          </a:p>
        </p:txBody>
      </p:sp>
      <p:sp>
        <p:nvSpPr>
          <p:cNvPr id="24" name="Competitors card"/>
          <p:cNvSpPr/>
          <p:nvPr/>
        </p:nvSpPr>
        <p:spPr>
          <a:xfrm>
            <a:off x="5029200" y="1143000"/>
            <a:ext cx="365760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</p:spPr>
      </p:sp>
      <p:sp>
        <p:nvSpPr>
          <p:cNvPr id="25" name="Text 23"/>
          <p:cNvSpPr txBox="1"/>
          <p:nvPr/>
        </p:nvSpPr>
        <p:spPr>
          <a:xfrm>
            <a:off x="5212080" y="128016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Established players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212080" y="1645920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6"/>
                </a:solidFill>
              </a:rPr>
              <a:t>Ascom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212080" y="1865376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Nurse call and clinical communication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212080" y="2221992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6"/>
                </a:solidFill>
              </a:rPr>
              <a:t>Rauland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212080" y="244144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Responder nurse call systems for hospitals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212080" y="2798064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6"/>
                </a:solidFill>
              </a:rPr>
              <a:t>TekTone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5212080" y="301752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Wired and wireless nurse call, patient call devices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212080" y="3374136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6"/>
                </a:solidFill>
              </a:rPr>
              <a:t>Jeron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5212080" y="3593592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Nurse call and emergency communication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212080" y="3950208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6"/>
                </a:solidFill>
              </a:rPr>
              <a:t>Stryker (Vocera)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5212080" y="4169664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Alert routing and prioritization software</a:t>
            </a:r>
            <a:endParaRPr lang="en-US" sz="11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Business potential and what it needs</a:t>
            </a:r>
            <a:endParaRPr lang="en-US" sz="2800" dirty="0"/>
          </a:p>
        </p:txBody>
      </p:sp>
      <p:sp>
        <p:nvSpPr>
          <p:cNvPr id="3" name="Stat Ascom revenue"/>
          <p:cNvSpPr/>
          <p:nvPr/>
        </p:nvSpPr>
        <p:spPr>
          <a:xfrm>
            <a:off x="457200" y="118872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CHF 292.1M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8288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Ascom revenue, 2025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10312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Group profit CHF 15.1M, about 5.2% net margin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5176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Whole-company figures, not nurse-call alone. Shows the market supports a profitable business, at modest margins.</a:t>
            </a:r>
            <a:endParaRPr lang="en-US" sz="1100" dirty="0"/>
          </a:p>
        </p:txBody>
      </p:sp>
      <p:sp>
        <p:nvSpPr>
          <p:cNvPr id="8" name="Stat budget"/>
          <p:cNvSpPr/>
          <p:nvPr/>
        </p:nvSpPr>
        <p:spPr>
          <a:xfrm>
            <a:off x="457200" y="3566160"/>
            <a:ext cx="26517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</p:spPr>
      </p:sp>
      <p:sp>
        <p:nvSpPr>
          <p:cNvPr id="9" name="Text 7"/>
          <p:cNvSpPr txBox="1"/>
          <p:nvPr/>
        </p:nvSpPr>
        <p:spPr>
          <a:xfrm>
            <a:off x="594360" y="361188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≈ 10,000 ETB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406908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Estimated prototype cost (one station)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118872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opportunity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1508760"/>
            <a:ext cx="521208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Commercial systems target large facilities and need significant investment.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 modular, lower-cost platform could fit clinics and smaller hospitals, a hypothesis still to be tested.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Modules can be sold or added one at a time as needs grow.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92608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To prove viability we still need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3246120"/>
            <a:ext cx="521208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Full bill of materials, assembly, installation and maintenance cost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Local price quotes and competitor price data for Ethiopia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Prototype validation against reference equipment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Customer interviews and medical-device requirements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Plan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2468880" y="1143000"/>
            <a:ext cx="310896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5"/>
                </a:solidFill>
              </a:rPr>
              <a:t>W1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2779776" y="1143000"/>
            <a:ext cx="310896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5"/>
                </a:solidFill>
              </a:rPr>
              <a:t>W2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3090672" y="1143000"/>
            <a:ext cx="310896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5"/>
                </a:solidFill>
              </a:rPr>
              <a:t>W3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401568" y="1143000"/>
            <a:ext cx="310896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5"/>
                </a:solidFill>
              </a:rPr>
              <a:t>W4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712464" y="1143000"/>
            <a:ext cx="310896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5"/>
                </a:solidFill>
              </a:rPr>
              <a:t>W5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1143000"/>
            <a:ext cx="310896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5"/>
                </a:solidFill>
              </a:rPr>
              <a:t>W6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334256" y="1143000"/>
            <a:ext cx="310896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5"/>
                </a:solidFill>
              </a:rPr>
              <a:t>W7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645152" y="1143000"/>
            <a:ext cx="310896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5"/>
                </a:solidFill>
              </a:rPr>
              <a:t>W8</a:t>
            </a:r>
            <a:endParaRPr lang="en-US" sz="1000" dirty="0"/>
          </a:p>
        </p:txBody>
      </p:sp>
      <p:sp>
        <p:nvSpPr>
          <p:cNvPr id="11" name="Row band 1"/>
          <p:cNvSpPr/>
          <p:nvPr/>
        </p:nvSpPr>
        <p:spPr>
          <a:xfrm>
            <a:off x="457200" y="1417320"/>
            <a:ext cx="4572000" cy="301752"/>
          </a:xfrm>
          <a:prstGeom prst="rect">
            <a:avLst/>
          </a:prstGeom>
          <a:solidFill>
            <a:schemeClr val="bg2"/>
          </a:solidFill>
        </p:spPr>
      </p:sp>
      <p:sp>
        <p:nvSpPr>
          <p:cNvPr id="12" name="Text 10"/>
          <p:cNvSpPr txBox="1"/>
          <p:nvPr/>
        </p:nvSpPr>
        <p:spPr>
          <a:xfrm>
            <a:off x="548640" y="1417320"/>
            <a:ext cx="19202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Requirements &amp; literature</a:t>
            </a:r>
            <a:endParaRPr lang="en-US" sz="1050" dirty="0"/>
          </a:p>
        </p:txBody>
      </p:sp>
      <p:sp>
        <p:nvSpPr>
          <p:cNvPr id="13" name="Gantt bar 1"/>
          <p:cNvSpPr/>
          <p:nvPr/>
        </p:nvSpPr>
        <p:spPr>
          <a:xfrm>
            <a:off x="2487168" y="1472184"/>
            <a:ext cx="274320" cy="192024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</p:spPr>
      </p:sp>
      <p:sp>
        <p:nvSpPr>
          <p:cNvPr id="14" name="Text 12"/>
          <p:cNvSpPr txBox="1"/>
          <p:nvPr/>
        </p:nvSpPr>
        <p:spPr>
          <a:xfrm>
            <a:off x="548640" y="1719072"/>
            <a:ext cx="19202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Architecture &amp; components</a:t>
            </a:r>
            <a:endParaRPr lang="en-US" sz="1050" dirty="0"/>
          </a:p>
        </p:txBody>
      </p:sp>
      <p:sp>
        <p:nvSpPr>
          <p:cNvPr id="15" name="Gantt bar 2"/>
          <p:cNvSpPr/>
          <p:nvPr/>
        </p:nvSpPr>
        <p:spPr>
          <a:xfrm>
            <a:off x="2487168" y="1773936"/>
            <a:ext cx="585216" cy="192024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</p:spPr>
      </p:sp>
      <p:sp>
        <p:nvSpPr>
          <p:cNvPr id="16" name="Row band 3"/>
          <p:cNvSpPr/>
          <p:nvPr/>
        </p:nvSpPr>
        <p:spPr>
          <a:xfrm>
            <a:off x="457200" y="2020824"/>
            <a:ext cx="4572000" cy="301752"/>
          </a:xfrm>
          <a:prstGeom prst="rect">
            <a:avLst/>
          </a:prstGeom>
          <a:solidFill>
            <a:schemeClr val="bg2"/>
          </a:solidFill>
        </p:spPr>
      </p:sp>
      <p:sp>
        <p:nvSpPr>
          <p:cNvPr id="17" name="Text 15"/>
          <p:cNvSpPr txBox="1"/>
          <p:nvPr/>
        </p:nvSpPr>
        <p:spPr>
          <a:xfrm>
            <a:off x="548640" y="2020824"/>
            <a:ext cx="19202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Hardware design &amp; simulation</a:t>
            </a:r>
            <a:endParaRPr lang="en-US" sz="1050" dirty="0"/>
          </a:p>
        </p:txBody>
      </p:sp>
      <p:sp>
        <p:nvSpPr>
          <p:cNvPr id="18" name="Gantt bar 3"/>
          <p:cNvSpPr/>
          <p:nvPr/>
        </p:nvSpPr>
        <p:spPr>
          <a:xfrm>
            <a:off x="2798064" y="2075688"/>
            <a:ext cx="585216" cy="192024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</p:spPr>
      </p:sp>
      <p:sp>
        <p:nvSpPr>
          <p:cNvPr id="19" name="Text 17"/>
          <p:cNvSpPr txBox="1"/>
          <p:nvPr/>
        </p:nvSpPr>
        <p:spPr>
          <a:xfrm>
            <a:off x="548640" y="2322576"/>
            <a:ext cx="19202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IV module</a:t>
            </a:r>
            <a:endParaRPr lang="en-US" sz="1050" dirty="0"/>
          </a:p>
        </p:txBody>
      </p:sp>
      <p:sp>
        <p:nvSpPr>
          <p:cNvPr id="20" name="Gantt bar 4"/>
          <p:cNvSpPr/>
          <p:nvPr/>
        </p:nvSpPr>
        <p:spPr>
          <a:xfrm>
            <a:off x="3108960" y="2377440"/>
            <a:ext cx="585216" cy="192024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</p:spPr>
      </p:sp>
      <p:sp>
        <p:nvSpPr>
          <p:cNvPr id="21" name="Row band 5"/>
          <p:cNvSpPr/>
          <p:nvPr/>
        </p:nvSpPr>
        <p:spPr>
          <a:xfrm>
            <a:off x="457200" y="2624328"/>
            <a:ext cx="4572000" cy="301752"/>
          </a:xfrm>
          <a:prstGeom prst="rect">
            <a:avLst/>
          </a:prstGeom>
          <a:solidFill>
            <a:schemeClr val="bg2"/>
          </a:solidFill>
        </p:spPr>
      </p:sp>
      <p:sp>
        <p:nvSpPr>
          <p:cNvPr id="22" name="Text 20"/>
          <p:cNvSpPr txBox="1"/>
          <p:nvPr/>
        </p:nvSpPr>
        <p:spPr>
          <a:xfrm>
            <a:off x="548640" y="2624328"/>
            <a:ext cx="19202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Temperature module</a:t>
            </a:r>
            <a:endParaRPr lang="en-US" sz="1050" dirty="0"/>
          </a:p>
        </p:txBody>
      </p:sp>
      <p:sp>
        <p:nvSpPr>
          <p:cNvPr id="23" name="Gantt bar 5"/>
          <p:cNvSpPr/>
          <p:nvPr/>
        </p:nvSpPr>
        <p:spPr>
          <a:xfrm>
            <a:off x="3108960" y="2679192"/>
            <a:ext cx="585216" cy="192024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</p:spPr>
      </p:sp>
      <p:sp>
        <p:nvSpPr>
          <p:cNvPr id="24" name="Text 22"/>
          <p:cNvSpPr txBox="1"/>
          <p:nvPr/>
        </p:nvSpPr>
        <p:spPr>
          <a:xfrm>
            <a:off x="548640" y="2926080"/>
            <a:ext cx="19202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Medicine reminder module</a:t>
            </a:r>
            <a:endParaRPr lang="en-US" sz="1050" dirty="0"/>
          </a:p>
        </p:txBody>
      </p:sp>
      <p:sp>
        <p:nvSpPr>
          <p:cNvPr id="25" name="Gantt bar 6"/>
          <p:cNvSpPr/>
          <p:nvPr/>
        </p:nvSpPr>
        <p:spPr>
          <a:xfrm>
            <a:off x="3108960" y="2980944"/>
            <a:ext cx="585216" cy="192024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</p:spPr>
      </p:sp>
      <p:sp>
        <p:nvSpPr>
          <p:cNvPr id="26" name="Row band 7"/>
          <p:cNvSpPr/>
          <p:nvPr/>
        </p:nvSpPr>
        <p:spPr>
          <a:xfrm>
            <a:off x="457200" y="3227832"/>
            <a:ext cx="4572000" cy="301752"/>
          </a:xfrm>
          <a:prstGeom prst="rect">
            <a:avLst/>
          </a:prstGeom>
          <a:solidFill>
            <a:schemeClr val="bg2"/>
          </a:solidFill>
        </p:spPr>
      </p:sp>
      <p:sp>
        <p:nvSpPr>
          <p:cNvPr id="27" name="Text 25"/>
          <p:cNvSpPr txBox="1"/>
          <p:nvPr/>
        </p:nvSpPr>
        <p:spPr>
          <a:xfrm>
            <a:off x="548640" y="3227832"/>
            <a:ext cx="19202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Module integration</a:t>
            </a:r>
            <a:endParaRPr lang="en-US" sz="1050" dirty="0"/>
          </a:p>
        </p:txBody>
      </p:sp>
      <p:sp>
        <p:nvSpPr>
          <p:cNvPr id="28" name="Gantt bar 7"/>
          <p:cNvSpPr/>
          <p:nvPr/>
        </p:nvSpPr>
        <p:spPr>
          <a:xfrm>
            <a:off x="3730752" y="3282696"/>
            <a:ext cx="585216" cy="192024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</p:spPr>
      </p:sp>
      <p:sp>
        <p:nvSpPr>
          <p:cNvPr id="29" name="Text 27"/>
          <p:cNvSpPr txBox="1"/>
          <p:nvPr/>
        </p:nvSpPr>
        <p:spPr>
          <a:xfrm>
            <a:off x="548640" y="3529584"/>
            <a:ext cx="19202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Testing &amp; troubleshooting</a:t>
            </a:r>
            <a:endParaRPr lang="en-US" sz="1050" dirty="0"/>
          </a:p>
        </p:txBody>
      </p:sp>
      <p:sp>
        <p:nvSpPr>
          <p:cNvPr id="30" name="Gantt bar 8"/>
          <p:cNvSpPr/>
          <p:nvPr/>
        </p:nvSpPr>
        <p:spPr>
          <a:xfrm>
            <a:off x="4041648" y="3584448"/>
            <a:ext cx="585216" cy="192024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</p:spPr>
      </p:sp>
      <p:sp>
        <p:nvSpPr>
          <p:cNvPr id="31" name="Row band 9"/>
          <p:cNvSpPr/>
          <p:nvPr/>
        </p:nvSpPr>
        <p:spPr>
          <a:xfrm>
            <a:off x="457200" y="3831336"/>
            <a:ext cx="4572000" cy="301752"/>
          </a:xfrm>
          <a:prstGeom prst="rect">
            <a:avLst/>
          </a:prstGeom>
          <a:solidFill>
            <a:schemeClr val="bg2"/>
          </a:solidFill>
        </p:spPr>
      </p:sp>
      <p:sp>
        <p:nvSpPr>
          <p:cNvPr id="32" name="Text 30"/>
          <p:cNvSpPr txBox="1"/>
          <p:nvPr/>
        </p:nvSpPr>
        <p:spPr>
          <a:xfrm>
            <a:off x="548640" y="3831336"/>
            <a:ext cx="19202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Documentation &amp; presentation</a:t>
            </a:r>
            <a:endParaRPr lang="en-US" sz="1050" dirty="0"/>
          </a:p>
        </p:txBody>
      </p:sp>
      <p:sp>
        <p:nvSpPr>
          <p:cNvPr id="33" name="Gantt bar 9"/>
          <p:cNvSpPr/>
          <p:nvPr/>
        </p:nvSpPr>
        <p:spPr>
          <a:xfrm>
            <a:off x="4352544" y="3886200"/>
            <a:ext cx="585216" cy="192024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</p:spPr>
      </p:sp>
      <p:sp>
        <p:nvSpPr>
          <p:cNvPr id="34" name="Text 32"/>
          <p:cNvSpPr txBox="1"/>
          <p:nvPr/>
        </p:nvSpPr>
        <p:spPr>
          <a:xfrm>
            <a:off x="5394960" y="114300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Preliminary budget (ETB)</a:t>
            </a:r>
            <a:endParaRPr lang="en-US" sz="1400" dirty="0"/>
          </a:p>
        </p:txBody>
      </p:sp>
      <p:graphicFrame>
        <p:nvGraphicFramePr>
          <p:cNvPr id="35" name="Budget table"/>
          <p:cNvGraphicFramePr>
            <a:graphicFrameLocks noGrp="1"/>
          </p:cNvGraphicFramePr>
          <p:nvPr/>
        </p:nvGraphicFramePr>
        <p:xfrm>
          <a:off x="5394960" y="1463040"/>
          <a:ext cx="3291840" cy="1645920"/>
        </p:xfrm>
        <a:graphic>
          <a:graphicData uri="http://schemas.openxmlformats.org/drawingml/2006/table">
            <a:tbl>
              <a:tblPr/>
              <a:tblGrid>
                <a:gridCol w="2377440"/>
                <a:gridCol w="914400"/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Microcontrollers &amp; programming</a:t>
                      </a:r>
                      <a:endParaRPr lang="en-US" sz="115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1,000</a:t>
                      </a:r>
                      <a:endParaRPr lang="en-US" sz="115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Load cell + HX711</a:t>
                      </a:r>
                      <a:endParaRPr lang="en-US" sz="115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1,400</a:t>
                      </a:r>
                      <a:endParaRPr lang="en-US" sz="115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Infrared sensor</a:t>
                      </a:r>
                      <a:endParaRPr lang="en-US" sz="115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600</a:t>
                      </a:r>
                      <a:endParaRPr lang="en-US" sz="115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Temperature sensor</a:t>
                      </a:r>
                      <a:endParaRPr lang="en-US" sz="115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1,000</a:t>
                      </a:r>
                      <a:endParaRPr lang="en-US" sz="115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RTC module</a:t>
                      </a:r>
                      <a:endParaRPr lang="en-US" sz="115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1,250</a:t>
                      </a:r>
                      <a:endParaRPr lang="en-US" sz="115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Displays, LEDs, resistors</a:t>
                      </a:r>
                      <a:endParaRPr lang="en-US" sz="115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1,500</a:t>
                      </a:r>
                      <a:endParaRPr lang="en-US" sz="115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6" name="Budget summary"/>
          <p:cNvSpPr/>
          <p:nvPr/>
        </p:nvSpPr>
        <p:spPr>
          <a:xfrm>
            <a:off x="5394960" y="3246120"/>
            <a:ext cx="3291840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</p:spPr>
      </p:sp>
      <p:sp>
        <p:nvSpPr>
          <p:cNvPr id="37" name="Text 34"/>
          <p:cNvSpPr txBox="1"/>
          <p:nvPr/>
        </p:nvSpPr>
        <p:spPr>
          <a:xfrm>
            <a:off x="5532120" y="3291840"/>
            <a:ext cx="301752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6,750 ETB priced so far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bg2"/>
                </a:solidFill>
              </a:rPr>
              <a:t>Still to price: actuator and driver, power, PCB and wiring, 3D-printed enclosure, contingency. Total estimate about 10,000 ETB.</a:t>
            </a:r>
            <a:endParaRPr lang="en-US" sz="11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Roadmap beyond the prototype</a:t>
            </a:r>
            <a:endParaRPr lang="en-US" sz="2800" dirty="0"/>
          </a:p>
        </p:txBody>
      </p:sp>
      <p:sp>
        <p:nvSpPr>
          <p:cNvPr id="3" name="Roadmap card 1"/>
          <p:cNvSpPr/>
          <p:nvPr/>
        </p:nvSpPr>
        <p:spPr>
          <a:xfrm>
            <a:off x="457200" y="1188720"/>
            <a:ext cx="1920240" cy="3291840"/>
          </a:xfrm>
          <a:prstGeom prst="roundRect">
            <a:avLst>
              <a:gd name="adj" fmla="val 3810"/>
            </a:avLst>
          </a:prstGeom>
          <a:solidFill>
            <a:schemeClr val="bg2"/>
          </a:solidFill>
        </p:spPr>
      </p:sp>
      <p:sp>
        <p:nvSpPr>
          <p:cNvPr id="4" name="Roadmap icon 1 circle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rgbClr val="0E4A54"/>
          </a:solidFill>
        </p:spPr>
      </p:sp>
      <p:pic>
        <p:nvPicPr>
          <p:cNvPr id="5" name="Roadmap icon 1 icon" descr="Roadmap icon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726" y="1514246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371600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NOW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057400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Prototype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606040"/>
            <a:ext cx="1645920" cy="1783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IV monitoring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Temperature regulation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Medicine reminders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Dashboard</a:t>
            </a:r>
            <a:endParaRPr lang="en-US" sz="1150" dirty="0"/>
          </a:p>
        </p:txBody>
      </p:sp>
      <p:sp>
        <p:nvSpPr>
          <p:cNvPr id="9" name="Roadmap card 2"/>
          <p:cNvSpPr/>
          <p:nvPr/>
        </p:nvSpPr>
        <p:spPr>
          <a:xfrm>
            <a:off x="2560320" y="1188720"/>
            <a:ext cx="1920240" cy="3291840"/>
          </a:xfrm>
          <a:prstGeom prst="roundRect">
            <a:avLst>
              <a:gd name="adj" fmla="val 3810"/>
            </a:avLst>
          </a:prstGeom>
          <a:solidFill>
            <a:schemeClr val="bg2"/>
          </a:solidFill>
        </p:spPr>
      </p:sp>
      <p:sp>
        <p:nvSpPr>
          <p:cNvPr id="10" name="Roadmap icon 2 circle"/>
          <p:cNvSpPr/>
          <p:nvPr/>
        </p:nvSpPr>
        <p:spPr>
          <a:xfrm>
            <a:off x="2743200" y="1371600"/>
            <a:ext cx="548640" cy="548640"/>
          </a:xfrm>
          <a:prstGeom prst="ellipse">
            <a:avLst/>
          </a:prstGeom>
          <a:solidFill>
            <a:srgbClr val="0E4A54"/>
          </a:solidFill>
        </p:spPr>
      </p:sp>
      <p:pic>
        <p:nvPicPr>
          <p:cNvPr id="11" name="Roadmap icon 2 icon" descr="Roadmap ico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846" y="151424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29000" y="1371600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NEXT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2743200" y="2057400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More patient support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743200" y="2606040"/>
            <a:ext cx="1645920" cy="1783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Wireless nurse call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Heart rate and SpO₂ (MAX30102)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ECG (AD8232), blood pressure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Body temperature</a:t>
            </a:r>
            <a:endParaRPr lang="en-US" sz="1150" dirty="0"/>
          </a:p>
        </p:txBody>
      </p:sp>
      <p:sp>
        <p:nvSpPr>
          <p:cNvPr id="15" name="Roadmap card 3"/>
          <p:cNvSpPr/>
          <p:nvPr/>
        </p:nvSpPr>
        <p:spPr>
          <a:xfrm>
            <a:off x="4663440" y="1188720"/>
            <a:ext cx="1920240" cy="3291840"/>
          </a:xfrm>
          <a:prstGeom prst="roundRect">
            <a:avLst>
              <a:gd name="adj" fmla="val 3810"/>
            </a:avLst>
          </a:prstGeom>
          <a:solidFill>
            <a:schemeClr val="bg2"/>
          </a:solidFill>
        </p:spPr>
      </p:sp>
      <p:sp>
        <p:nvSpPr>
          <p:cNvPr id="16" name="Roadmap icon 3 circle"/>
          <p:cNvSpPr/>
          <p:nvPr/>
        </p:nvSpPr>
        <p:spPr>
          <a:xfrm>
            <a:off x="4846320" y="1371600"/>
            <a:ext cx="548640" cy="548640"/>
          </a:xfrm>
          <a:prstGeom prst="ellipse">
            <a:avLst/>
          </a:prstGeom>
          <a:solidFill>
            <a:srgbClr val="0E4A54"/>
          </a:solidFill>
        </p:spPr>
      </p:sp>
      <p:pic>
        <p:nvPicPr>
          <p:cNvPr id="17" name="Roadmap icon 3 icon" descr="Roadmap ico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8966" y="1514246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532120" y="1371600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THEN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4846320" y="2057400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Make it robust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4846320" y="2606040"/>
            <a:ext cx="1645920" cy="1783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Data logging and reports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Battery backup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Secure access, auto-reconnect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Compact PCBs and enclosure</a:t>
            </a:r>
            <a:endParaRPr lang="en-US" sz="1150" dirty="0"/>
          </a:p>
        </p:txBody>
      </p:sp>
      <p:sp>
        <p:nvSpPr>
          <p:cNvPr id="21" name="Roadmap card 4"/>
          <p:cNvSpPr/>
          <p:nvPr/>
        </p:nvSpPr>
        <p:spPr>
          <a:xfrm>
            <a:off x="6766560" y="1188720"/>
            <a:ext cx="1920240" cy="3291840"/>
          </a:xfrm>
          <a:prstGeom prst="roundRect">
            <a:avLst>
              <a:gd name="adj" fmla="val 3810"/>
            </a:avLst>
          </a:prstGeom>
          <a:solidFill>
            <a:schemeClr val="tx2"/>
          </a:solidFill>
        </p:spPr>
      </p:sp>
      <p:sp>
        <p:nvSpPr>
          <p:cNvPr id="22" name="Roadmap icon 4 circle"/>
          <p:cNvSpPr/>
          <p:nvPr/>
        </p:nvSpPr>
        <p:spPr>
          <a:xfrm>
            <a:off x="6949440" y="1371600"/>
            <a:ext cx="548640" cy="548640"/>
          </a:xfrm>
          <a:prstGeom prst="ellipse">
            <a:avLst/>
          </a:prstGeom>
          <a:solidFill>
            <a:srgbClr val="FF6B57"/>
          </a:solidFill>
        </p:spPr>
      </p:sp>
      <p:pic>
        <p:nvPicPr>
          <p:cNvPr id="23" name="Roadmap icon 4 icon" descr="Roadmap ico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2086" y="1514246"/>
            <a:ext cx="263347" cy="26334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635240" y="1371600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GATE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6949440" y="2057400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Before any clinical use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6949440" y="2606040"/>
            <a:ext cx="1645920" cy="1783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bg2"/>
                </a:solidFill>
              </a:rPr>
              <a:t>Validate vs reference devices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bg2"/>
                </a:solidFill>
              </a:rPr>
              <a:t>Electrical and patient safety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bg2"/>
                </a:solidFill>
              </a:rPr>
              <a:t>Data security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bg2"/>
                </a:solidFill>
              </a:rPr>
              <a:t>Medical-device requirements</a:t>
            </a:r>
            <a:endParaRPr lang="en-US" sz="11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Takeaways</a:t>
            </a:r>
            <a:endParaRPr lang="en-US" sz="2800" dirty="0"/>
          </a:p>
        </p:txBody>
      </p:sp>
      <p:sp>
        <p:nvSpPr>
          <p:cNvPr id="3" name="Takeaway 1"/>
          <p:cNvSpPr/>
          <p:nvPr/>
        </p:nvSpPr>
        <p:spPr>
          <a:xfrm>
            <a:off x="457200" y="1234440"/>
            <a:ext cx="484632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</p:spPr>
      </p:sp>
      <p:sp>
        <p:nvSpPr>
          <p:cNvPr id="4" name="Text 2"/>
          <p:cNvSpPr txBox="1"/>
          <p:nvPr/>
        </p:nvSpPr>
        <p:spPr>
          <a:xfrm>
            <a:off x="640080" y="1307592"/>
            <a:ext cx="1280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The problem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28016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</a:rPr>
              <a:t>Routine checks of IV, temperature and medication are manual and scattered.</a:t>
            </a:r>
            <a:endParaRPr lang="en-US" sz="1150" dirty="0"/>
          </a:p>
        </p:txBody>
      </p:sp>
      <p:sp>
        <p:nvSpPr>
          <p:cNvPr id="6" name="Takeaway 2"/>
          <p:cNvSpPr/>
          <p:nvPr/>
        </p:nvSpPr>
        <p:spPr>
          <a:xfrm>
            <a:off x="457200" y="2240280"/>
            <a:ext cx="484632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</p:spPr>
      </p:sp>
      <p:sp>
        <p:nvSpPr>
          <p:cNvPr id="7" name="Text 5"/>
          <p:cNvSpPr txBox="1"/>
          <p:nvPr/>
        </p:nvSpPr>
        <p:spPr>
          <a:xfrm>
            <a:off x="640080" y="2313432"/>
            <a:ext cx="1280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The solution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228600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</a:rPr>
              <a:t>A modular, expandable embedded station: three working designs on one dashboard, simulated and laid out as PCBs.</a:t>
            </a:r>
            <a:endParaRPr lang="en-US" sz="1150" dirty="0"/>
          </a:p>
        </p:txBody>
      </p:sp>
      <p:sp>
        <p:nvSpPr>
          <p:cNvPr id="9" name="Takeaway 3"/>
          <p:cNvSpPr/>
          <p:nvPr/>
        </p:nvSpPr>
        <p:spPr>
          <a:xfrm>
            <a:off x="457200" y="3246120"/>
            <a:ext cx="484632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</p:spPr>
      </p:sp>
      <p:sp>
        <p:nvSpPr>
          <p:cNvPr id="10" name="Text 8"/>
          <p:cNvSpPr txBox="1"/>
          <p:nvPr/>
        </p:nvSpPr>
        <p:spPr>
          <a:xfrm>
            <a:off x="640080" y="3319272"/>
            <a:ext cx="1280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The market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329184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</a:rPr>
              <a:t>Established vendors prove demand but target large, costly installations. Our niche is a modular, lower-cost option; viability still needs cost and market validation.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5577840" y="361188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Questions and feedback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5577840" y="406908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Thank you to INSA Talent.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6870" y="440055"/>
            <a:ext cx="3569970" cy="31718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ediGuard">
  <a:themeElements>
    <a:clrScheme name="MediGuard">
      <a:dk1>
        <a:srgbClr val="10252B"/>
      </a:dk1>
      <a:lt1>
        <a:srgbClr val="FFFFFF"/>
      </a:lt1>
      <a:dk2>
        <a:srgbClr val="0E4A54"/>
      </a:dk2>
      <a:lt2>
        <a:srgbClr val="EAF4F3"/>
      </a:lt2>
      <a:accent1>
        <a:srgbClr val="14A38B"/>
      </a:accent1>
      <a:accent2>
        <a:srgbClr val="FF6B57"/>
      </a:accent2>
      <a:accent3>
        <a:srgbClr val="F2B33D"/>
      </a:accent3>
      <a:accent4>
        <a:srgbClr val="5B8DEF"/>
      </a:accent4>
      <a:accent5>
        <a:srgbClr val="6B7F85"/>
      </a:accent5>
      <a:accent6>
        <a:srgbClr val="0E4A54"/>
      </a:accent6>
      <a:hlink>
        <a:srgbClr val="14A38B"/>
      </a:hlink>
      <a:folHlink>
        <a:srgbClr val="6B7F85"/>
      </a:folHlink>
    </a:clrScheme>
    <a:fontScheme name="MediGuar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ediGuard">
  <a:themeElements>
    <a:clrScheme name="MediGuard">
      <a:dk1>
        <a:srgbClr val="10252B"/>
      </a:dk1>
      <a:lt1>
        <a:srgbClr val="FFFFFF"/>
      </a:lt1>
      <a:dk2>
        <a:srgbClr val="0E4A54"/>
      </a:dk2>
      <a:lt2>
        <a:srgbClr val="EAF4F3"/>
      </a:lt2>
      <a:accent1>
        <a:srgbClr val="14A38B"/>
      </a:accent1>
      <a:accent2>
        <a:srgbClr val="FF6B57"/>
      </a:accent2>
      <a:accent3>
        <a:srgbClr val="F2B33D"/>
      </a:accent3>
      <a:accent4>
        <a:srgbClr val="5B8DEF"/>
      </a:accent4>
      <a:accent5>
        <a:srgbClr val="6B7F85"/>
      </a:accent5>
      <a:accent6>
        <a:srgbClr val="0E4A54"/>
      </a:accent6>
      <a:hlink>
        <a:srgbClr val="14A38B"/>
      </a:hlink>
      <a:folHlink>
        <a:srgbClr val="6B7F85"/>
      </a:folHlink>
    </a:clrScheme>
    <a:fontScheme name="MediGuar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7454</Words>
  <Application>WPS Presentation</Application>
  <PresentationFormat>On-screen Show (16:9)</PresentationFormat>
  <Paragraphs>460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Microsoft YaHei</vt:lpstr>
      <vt:lpstr>Arial Unicode MS</vt:lpstr>
      <vt:lpstr>MediGuard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MediGuard – A Smart Nurse Station</dc:title>
  <dc:creator>MediGuard team, INSA Talent Summer Camp</dc:creator>
  <dc:subject>PptxGenJS Presentation</dc:subject>
  <cp:lastModifiedBy>Lewi Benyam</cp:lastModifiedBy>
  <cp:revision>2</cp:revision>
  <dcterms:created xsi:type="dcterms:W3CDTF">2026-10-28T06:02:00Z</dcterms:created>
  <dcterms:modified xsi:type="dcterms:W3CDTF">2026-10-28T16:11:20Z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5D1AE5E56F40413097FA241A2CAE1D0E_12</vt:lpwstr>
  </property>
  <property fmtid="{D5CDD505-2E9C-101B-9397-08002B2CF9AE}" pid="3" name="KSOProductBuildVer">
    <vt:lpwstr>1033-12.1.0.29162</vt:lpwstr>
  </property>
</Properties>
</file>